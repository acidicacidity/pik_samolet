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2efee464-f6ae-60bb-3218-d32cfd19de40}">
          <p14:sldIdLst>
            <p14:sldId id="256"/>
            <p14:sldId id="257"/>
          </p14:sldIdLst>
        </p14:section>
        <p14:section name="Теория и метод" id="{3483dcce-c5c2-1e5f-f8c4-f7a334641e4a}">
          <p14:sldIdLst>
            <p14:sldId id="258"/>
            <p14:sldId id="259"/>
          </p14:sldIdLst>
        </p14:section>
        <p14:section name="Макеты" id="{3adf9b8d-cd37-64ca-7e2a-7d7e0bd0e99a}">
          <p14:sldIdLst>
            <p14:sldId id="260"/>
            <p14:sldId id="261"/>
            <p14:sldId id="262"/>
            <p14:sldId id="263"/>
            <p14:sldId id="264"/>
          </p14:sldIdLst>
        </p14:section>
        <p14:section name="Анализ и тестирование" id="{f526899d-14dc-38d1-6437-abee707dee9c}">
          <p14:sldIdLst>
            <p14:sldId id="265"/>
            <p14:sldId id="266"/>
          </p14:sldIdLst>
        </p14:section>
        <p14:section name="Выводы" id="{b44bc884-a5bd-8f8d-39b1-939aab7f75ca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B6577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5B6577"/>
                </a:solidFill>
                <a:latin typeface="+mn-lt"/>
              </a:rPr>
              <a:t>Взвешенная оценка, 1–5 баллов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Итоговая оценка</c:v>
                </c:pt>
              </c:strCache>
            </c:strRef>
          </c:tx>
          <c:spPr>
            <a:solidFill>
              <a:srgbClr val="F25C2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D1B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Balsamiq</c:v>
                  </c:pt>
                  <c:pt idx="1">
                    <c:v>Lunacy</c:v>
                  </c:pt>
                  <c:pt idx="2">
                    <c:v>Axure RP</c:v>
                  </c:pt>
                  <c:pt idx="3">
                    <c:v>Figma</c:v>
                  </c:pt>
                  <c:pt idx="4">
                    <c:v>Pixso</c:v>
                  </c:pt>
                  <c:pt idx="5">
                    <c:v>Penpot</c:v>
                  </c:pt>
                  <c:pt idx="6">
                    <c:v>Код (React)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2.3</c:v>
                </c:pt>
                <c:pt idx="1">
                  <c:v>3.05</c:v>
                </c:pt>
                <c:pt idx="2">
                  <c:v>3.1</c:v>
                </c:pt>
                <c:pt idx="3">
                  <c:v>4.05</c:v>
                </c:pt>
                <c:pt idx="4">
                  <c:v>4.15</c:v>
                </c:pt>
                <c:pt idx="5">
                  <c:v>4.2</c:v>
                </c:pt>
                <c:pt idx="6">
                  <c:v>4.25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0D1B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Здравствуйте. Тема работы — проектирование пользовательского интерфейса и разработка веб-сайта застройщика жилья. Компания «Новый Горизонт» и все данные вымышленные. Сайт полностью работает: фронтенд на React, бэкенд на Django REST Framework, база PostgreSQL.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Цель — спроектировать, реализовать и проверить интерфейс. Задачи шли в порядке модели Гарретта: от стратегии и ролей к структуре, макетам и визуальному стилю, а затем к проверке.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Основа — классика UX: Норман, Круг, Купер, Гарретт и эвристики Нильсена. Нормативная база — ГОСТ Р ИСО 9241-210 о человекоориентированном проектировании, WCAG 2.2 и ГОСТ Р 52872 о доступности. Для оценки удобства — шкала SUS Брука.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Работа шла циклами по ГОСТ Р ИСО 9241-210. Ключевое решение — высокодетализированный прототип делался сразу в коде: компоненты React повторяют компоненты графического редактора, а тестировать можно на реальных данных. Выделены три роли с разными целями.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Сначала — каркасы без цвета. На главной блоки отвечают на вопросы покупателя по порядку: кто строит, что продаётся, как купить, сколько стоит. В карточке квартиры панель цены закреплена при прокрутке — эвристика видимости состояния системы.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Тёмно-синий передаёт надёжность, оранжевый используется только для действий, поэтому кнопка бронирования сразу находится взглядом. Шрифт Onest — с полной поддержкой кириллицы. Цвета статусов одинаковы на всех экранах — эвристика единообразия.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Быстрый подбор на главной — всего пять вариантов комнатности и бюджет: меньше вариантов, быстрее выбор. В каталоге привычная схема «фильтры слева». Персональная цена со скидкой видна прямо в списке.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Карточка квартиры: переключение представлений вкладками — узнавание вместо припоминания. Двухфакторная аутентификация: после пароля на почту приходит 6-значный код; он хранится только в виде хеша, живёт 10 минут, даётся 5 попыток.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Ролевая модель проверяется на сервере. В кабинете клиент видит уровень лояльности и прогресс до следующего, статусы брони показаны таймлайном. Менеджер подтверждает брони и решает по ипотеке. Мобильная версия — без горизонтальной прокрутки.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Сравнены девять инструментов, семь из них — во взвешенной оценке. Оценки экспертные, авторские. Figma лидирует по функциям, но в российских условиях её итог снижают риски доступа. Adobe XD с 2023 года не развивается и в оценку не вошёл.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Сквозные сценарии в браузере выполнялись от лица всех трёх ролей на четырёх ширинах экрана, серверная логика покрыта 18 тестами. Шесть проблем найдено и исправлено. Аудит доступности: контраст белого текста на оранжевых кнопках 3,3 : 1 — рекомендовано затемнить. Результаты юзабилити-теста: [подставить после тестирования].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Все задачи выполнены. Главный вывод совпадает с литературой: значительная часть улучшений появилась после проверки на реальных данных и обратной связи. Дальше — исправить контраст акцентных кнопок, добавить поэтажные планы и интерактивную карту. Спасибо, готов ответить на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ёмный титул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46634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14600"/>
            <a:ext cx="45720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D7DCE4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онтент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Новый Горизонт · практическая работа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85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ПРАКТИЧЕСКАЯ РАБОТА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09728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Веб-сайт застройщика «Новый Горизонт»</a:t>
            </a:r>
            <a:endParaRPr lang="en-US" sz="3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5146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D7DCE4"/>
                </a:solidFill>
              </a:rPr>
              <a:t>Проектирование пользовательских интерфейсов и разработка: React · Django REST · PostgreSQL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7764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DCE4"/>
                </a:solidFill>
              </a:rPr>
              <a:t>Выполнил: [Фамилия И. О.], группа [___]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7DCE4"/>
                </a:solidFill>
              </a:rPr>
              <a:t>Руководитель: [Фамилия И. О.]</a:t>
            </a:r>
            <a:endParaRPr lang="en-US" sz="1200" dirty="0"/>
          </a:p>
        </p:txBody>
      </p:sp>
      <p:pic>
        <p:nvPicPr>
          <p:cNvPr id="6" name="Главная страница сайта" descr="Главная страница сайт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868680"/>
            <a:ext cx="3429000" cy="2139696"/>
          </a:xfrm>
          <a:prstGeom prst="rect">
            <a:avLst/>
          </a:prstGeom>
        </p:spPr>
      </p:pic>
      <p:pic>
        <p:nvPicPr>
          <p:cNvPr id="7" name="Карточка квартиры" descr="Карточка квартиры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606040"/>
            <a:ext cx="2926080" cy="1828800"/>
          </a:xfrm>
          <a:prstGeom prst="rect">
            <a:avLst/>
          </a:prstGeom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Цель и задачи работы</a:t>
            </a:r>
            <a:endParaRPr lang="en-US" sz="2600" dirty="0"/>
          </a:p>
        </p:txBody>
      </p:sp>
      <p:sp>
        <p:nvSpPr>
          <p:cNvPr id="3" name="Цель"/>
          <p:cNvSpPr/>
          <p:nvPr/>
        </p:nvSpPr>
        <p:spPr>
          <a:xfrm>
            <a:off x="457200" y="1097280"/>
            <a:ext cx="3291840" cy="3474720"/>
          </a:xfrm>
          <a:prstGeom prst="roundRect">
            <a:avLst>
              <a:gd name="adj" fmla="val 3333"/>
            </a:avLst>
          </a:prstGeom>
          <a:solidFill>
            <a:schemeClr val="tx1"/>
          </a:solidFill>
          <a:ln w="9525">
            <a:solidFill>
              <a:srgbClr val="E2DED6"/>
            </a:solidFill>
            <a:prstDash val="solid"/>
          </a:ln>
          <a:effectLst>
            <a:outerShdw sx="100000" sy="100000" kx="0" ky="0" algn="bl" rotWithShape="0" blurRad="76200" dist="25400" dir="5400000">
              <a:srgbClr val="0D1B2A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ЦЕЛЬ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91640"/>
            <a:ext cx="2788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Спроектировать интерфейс сайта застройщика, обосновать решения принципами проектирования, реализовать его и проверить удобство тестированием</a:t>
            </a:r>
            <a:endParaRPr lang="en-US" sz="1600" dirty="0"/>
          </a:p>
        </p:txBody>
      </p:sp>
      <p:sp>
        <p:nvSpPr>
          <p:cNvPr id="6" name="Номер задачи 1"/>
          <p:cNvSpPr txBox="1"/>
          <p:nvPr/>
        </p:nvSpPr>
        <p:spPr>
          <a:xfrm>
            <a:off x="4069080" y="10972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617720" y="109728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Изучить литературу и стандарты по UX и доступности</a:t>
            </a:r>
            <a:endParaRPr lang="en-US" sz="1400" dirty="0"/>
          </a:p>
        </p:txBody>
      </p:sp>
      <p:sp>
        <p:nvSpPr>
          <p:cNvPr id="8" name="Номер задачи 2"/>
          <p:cNvSpPr txBox="1"/>
          <p:nvPr/>
        </p:nvSpPr>
        <p:spPr>
          <a:xfrm>
            <a:off x="4069080" y="159562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1595628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Определить роли пользователей и сценарии</a:t>
            </a:r>
            <a:endParaRPr lang="en-US" sz="1400" dirty="0"/>
          </a:p>
        </p:txBody>
      </p:sp>
      <p:sp>
        <p:nvSpPr>
          <p:cNvPr id="10" name="Номер задачи 3"/>
          <p:cNvSpPr txBox="1"/>
          <p:nvPr/>
        </p:nvSpPr>
        <p:spPr>
          <a:xfrm>
            <a:off x="4069080" y="209397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2093976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Разработать структуру сайта и каркасные макеты</a:t>
            </a:r>
            <a:endParaRPr lang="en-US" sz="1400" dirty="0"/>
          </a:p>
        </p:txBody>
      </p:sp>
      <p:sp>
        <p:nvSpPr>
          <p:cNvPr id="12" name="Номер задачи 4"/>
          <p:cNvSpPr txBox="1"/>
          <p:nvPr/>
        </p:nvSpPr>
        <p:spPr>
          <a:xfrm>
            <a:off x="4069080" y="259232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592324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Сформировать дизайн-систему</a:t>
            </a:r>
            <a:endParaRPr lang="en-US" sz="1400" dirty="0"/>
          </a:p>
        </p:txBody>
      </p:sp>
      <p:sp>
        <p:nvSpPr>
          <p:cNvPr id="14" name="Номер задачи 5"/>
          <p:cNvSpPr txBox="1"/>
          <p:nvPr/>
        </p:nvSpPr>
        <p:spPr>
          <a:xfrm>
            <a:off x="4069080" y="309067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309067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Реализовать интерфейс на React + Django REST</a:t>
            </a:r>
            <a:endParaRPr lang="en-US" sz="1400" dirty="0"/>
          </a:p>
        </p:txBody>
      </p:sp>
      <p:sp>
        <p:nvSpPr>
          <p:cNvPr id="16" name="Номер задачи 6"/>
          <p:cNvSpPr txBox="1"/>
          <p:nvPr/>
        </p:nvSpPr>
        <p:spPr>
          <a:xfrm>
            <a:off x="4069080" y="35890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617720" y="358902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Сравнить инструменты макетирования</a:t>
            </a:r>
            <a:endParaRPr lang="en-US" sz="1400" dirty="0"/>
          </a:p>
        </p:txBody>
      </p:sp>
      <p:sp>
        <p:nvSpPr>
          <p:cNvPr id="18" name="Номер задачи 7"/>
          <p:cNvSpPr txBox="1"/>
          <p:nvPr/>
        </p:nvSpPr>
        <p:spPr>
          <a:xfrm>
            <a:off x="4069080" y="408736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617720" y="4087368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Протестировать интерфейс и внести исправления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Теоретическая основа: литература и стандарты</a:t>
            </a:r>
            <a:endParaRPr lang="en-US" sz="2600" dirty="0"/>
          </a:p>
        </p:txBody>
      </p:sp>
      <p:sp>
        <p:nvSpPr>
          <p:cNvPr id="3" name="Источник: Д. Норман"/>
          <p:cNvSpPr/>
          <p:nvPr/>
        </p:nvSpPr>
        <p:spPr>
          <a:xfrm>
            <a:off x="457200" y="1097280"/>
            <a:ext cx="1920240" cy="233172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rgbClr val="E2DED6"/>
            </a:solidFill>
            <a:prstDash val="solid"/>
          </a:ln>
          <a:effectLst>
            <a:outerShdw sx="100000" sy="100000" kx="0" ky="0" algn="bl" rotWithShape="0" blurRad="76200" dist="25400" dir="5400000">
              <a:srgbClr val="0D1B2A">
                <a:alpha val="8000"/>
              </a:srgbClr>
            </a:outerShdw>
          </a:effectLst>
        </p:spPr>
      </p:sp>
      <p:sp>
        <p:nvSpPr>
          <p:cNvPr id="4" name="Фон иконки Д. Норман"/>
          <p:cNvSpPr/>
          <p:nvPr/>
        </p:nvSpPr>
        <p:spPr>
          <a:xfrm>
            <a:off x="685800" y="1325880"/>
            <a:ext cx="502920" cy="502920"/>
          </a:xfrm>
          <a:prstGeom prst="ellipse">
            <a:avLst/>
          </a:prstGeom>
          <a:solidFill>
            <a:srgbClr val="FDE8DF"/>
          </a:solidFill>
          <a:ln/>
        </p:spPr>
      </p:sp>
      <p:pic>
        <p:nvPicPr>
          <p:cNvPr id="5" name="Иконка Д. Норман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453896"/>
            <a:ext cx="246888" cy="2468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1965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Д. Норман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33172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Аффордансы, обратная связь, ментальные модели</a:t>
            </a:r>
            <a:endParaRPr lang="en-US" sz="1200" dirty="0"/>
          </a:p>
        </p:txBody>
      </p:sp>
      <p:sp>
        <p:nvSpPr>
          <p:cNvPr id="8" name="Источник: С. Круг"/>
          <p:cNvSpPr/>
          <p:nvPr/>
        </p:nvSpPr>
        <p:spPr>
          <a:xfrm>
            <a:off x="2560320" y="1097280"/>
            <a:ext cx="1920240" cy="233172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rgbClr val="E2DED6"/>
            </a:solidFill>
            <a:prstDash val="solid"/>
          </a:ln>
          <a:effectLst>
            <a:outerShdw sx="100000" sy="100000" kx="0" ky="0" algn="bl" rotWithShape="0" blurRad="76200" dist="25400" dir="5400000">
              <a:srgbClr val="0D1B2A">
                <a:alpha val="8000"/>
              </a:srgbClr>
            </a:outerShdw>
          </a:effectLst>
        </p:spPr>
      </p:sp>
      <p:sp>
        <p:nvSpPr>
          <p:cNvPr id="9" name="Фон иконки С. Круг"/>
          <p:cNvSpPr/>
          <p:nvPr/>
        </p:nvSpPr>
        <p:spPr>
          <a:xfrm>
            <a:off x="2788920" y="1325880"/>
            <a:ext cx="502920" cy="502920"/>
          </a:xfrm>
          <a:prstGeom prst="ellipse">
            <a:avLst/>
          </a:prstGeom>
          <a:solidFill>
            <a:srgbClr val="FDE8DF"/>
          </a:solidFill>
          <a:ln/>
        </p:spPr>
      </p:sp>
      <p:pic>
        <p:nvPicPr>
          <p:cNvPr id="10" name="Иконка С. Круг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6936" y="1453896"/>
            <a:ext cx="246888" cy="24688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788920" y="1965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С. Круг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2788920" y="233172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Пользователь сканирует, а не читает — экран должен быть очевидным</a:t>
            </a:r>
            <a:endParaRPr lang="en-US" sz="1200" dirty="0"/>
          </a:p>
        </p:txBody>
      </p:sp>
      <p:sp>
        <p:nvSpPr>
          <p:cNvPr id="13" name="Источник: Я. Нильсен"/>
          <p:cNvSpPr/>
          <p:nvPr/>
        </p:nvSpPr>
        <p:spPr>
          <a:xfrm>
            <a:off x="4663440" y="1097280"/>
            <a:ext cx="1920240" cy="233172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rgbClr val="E2DED6"/>
            </a:solidFill>
            <a:prstDash val="solid"/>
          </a:ln>
          <a:effectLst>
            <a:outerShdw sx="100000" sy="100000" kx="0" ky="0" algn="bl" rotWithShape="0" blurRad="76200" dist="25400" dir="5400000">
              <a:srgbClr val="0D1B2A">
                <a:alpha val="8000"/>
              </a:srgbClr>
            </a:outerShdw>
          </a:effectLst>
        </p:spPr>
      </p:sp>
      <p:sp>
        <p:nvSpPr>
          <p:cNvPr id="14" name="Фон иконки Я. Нильсен"/>
          <p:cNvSpPr/>
          <p:nvPr/>
        </p:nvSpPr>
        <p:spPr>
          <a:xfrm>
            <a:off x="4892040" y="1325880"/>
            <a:ext cx="502920" cy="502920"/>
          </a:xfrm>
          <a:prstGeom prst="ellipse">
            <a:avLst/>
          </a:prstGeom>
          <a:solidFill>
            <a:srgbClr val="FDE8DF"/>
          </a:solidFill>
          <a:ln/>
        </p:spPr>
      </p:sp>
      <p:pic>
        <p:nvPicPr>
          <p:cNvPr id="15" name="Иконка Я. Нильсен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0056" y="1453896"/>
            <a:ext cx="246888" cy="24688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892040" y="1965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Я. Нильсен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4892040" y="233172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10 эвристик юзабилити; 5 участников находят ~85 % проблем</a:t>
            </a:r>
            <a:endParaRPr lang="en-US" sz="1200" dirty="0"/>
          </a:p>
        </p:txBody>
      </p:sp>
      <p:sp>
        <p:nvSpPr>
          <p:cNvPr id="18" name="Источник: Дж. Гарретт"/>
          <p:cNvSpPr/>
          <p:nvPr/>
        </p:nvSpPr>
        <p:spPr>
          <a:xfrm>
            <a:off x="6766560" y="1097280"/>
            <a:ext cx="1920240" cy="233172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rgbClr val="E2DED6"/>
            </a:solidFill>
            <a:prstDash val="solid"/>
          </a:ln>
          <a:effectLst>
            <a:outerShdw sx="100000" sy="100000" kx="0" ky="0" algn="bl" rotWithShape="0" blurRad="76200" dist="25400" dir="5400000">
              <a:srgbClr val="0D1B2A">
                <a:alpha val="8000"/>
              </a:srgbClr>
            </a:outerShdw>
          </a:effectLst>
        </p:spPr>
      </p:sp>
      <p:sp>
        <p:nvSpPr>
          <p:cNvPr id="19" name="Фон иконки Дж. Гарретт"/>
          <p:cNvSpPr/>
          <p:nvPr/>
        </p:nvSpPr>
        <p:spPr>
          <a:xfrm>
            <a:off x="6995160" y="1325880"/>
            <a:ext cx="502920" cy="502920"/>
          </a:xfrm>
          <a:prstGeom prst="ellipse">
            <a:avLst/>
          </a:prstGeom>
          <a:solidFill>
            <a:srgbClr val="FDE8DF"/>
          </a:solidFill>
          <a:ln/>
        </p:spPr>
      </p:sp>
      <p:pic>
        <p:nvPicPr>
          <p:cNvPr id="20" name="Иконка Дж. Гарретт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3176" y="1453896"/>
            <a:ext cx="246888" cy="24688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995160" y="1965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Дж. Гарретт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995160" y="233172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5 уровней UX: стратегия → … → визуальный стиль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3703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СТАНДАРТЫ</a:t>
            </a:r>
            <a:endParaRPr lang="en-US" sz="1100" dirty="0"/>
          </a:p>
        </p:txBody>
      </p:sp>
      <p:sp>
        <p:nvSpPr>
          <p:cNvPr id="24" name="Метка: ГОСТ Р ИСО 9241-210"/>
          <p:cNvSpPr txBox="1"/>
          <p:nvPr/>
        </p:nvSpPr>
        <p:spPr>
          <a:xfrm>
            <a:off x="457200" y="4069080"/>
            <a:ext cx="1920240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ГОСТ Р ИСО 9241-210</a:t>
            </a:r>
            <a:endParaRPr lang="en-US" sz="1100" dirty="0"/>
          </a:p>
        </p:txBody>
      </p:sp>
      <p:sp>
        <p:nvSpPr>
          <p:cNvPr id="25" name="Метка: WCAG 2.2"/>
          <p:cNvSpPr txBox="1"/>
          <p:nvPr/>
        </p:nvSpPr>
        <p:spPr>
          <a:xfrm>
            <a:off x="2560320" y="4069080"/>
            <a:ext cx="1920240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WCAG 2.2</a:t>
            </a:r>
            <a:endParaRPr lang="en-US" sz="1100" dirty="0"/>
          </a:p>
        </p:txBody>
      </p:sp>
      <p:sp>
        <p:nvSpPr>
          <p:cNvPr id="26" name="Метка: ГОСТ Р 52872-2019"/>
          <p:cNvSpPr txBox="1"/>
          <p:nvPr/>
        </p:nvSpPr>
        <p:spPr>
          <a:xfrm>
            <a:off x="4663440" y="4069080"/>
            <a:ext cx="1920240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ГОСТ Р 52872-2019</a:t>
            </a:r>
            <a:endParaRPr lang="en-US" sz="1100" dirty="0"/>
          </a:p>
        </p:txBody>
      </p:sp>
      <p:sp>
        <p:nvSpPr>
          <p:cNvPr id="27" name="Метка: Шкала SUS"/>
          <p:cNvSpPr txBox="1"/>
          <p:nvPr/>
        </p:nvSpPr>
        <p:spPr>
          <a:xfrm>
            <a:off x="6766560" y="4069080"/>
            <a:ext cx="1920240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Шкала SUS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Методология: итеративный подход</a:t>
            </a:r>
            <a:endParaRPr lang="en-US" sz="2600" dirty="0"/>
          </a:p>
        </p:txBody>
      </p:sp>
      <p:sp>
        <p:nvSpPr>
          <p:cNvPr id="3" name="Этап: Требования и роли"/>
          <p:cNvSpPr txBox="1"/>
          <p:nvPr/>
        </p:nvSpPr>
        <p:spPr>
          <a:xfrm>
            <a:off x="457200" y="1143000"/>
            <a:ext cx="137160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rgbClr val="E2DED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Требования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и роли</a:t>
            </a:r>
            <a:endParaRPr lang="en-US" sz="1300" dirty="0"/>
          </a:p>
        </p:txBody>
      </p:sp>
      <p:pic>
        <p:nvPicPr>
          <p:cNvPr id="4" name="Стрелка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2808" y="1444752"/>
            <a:ext cx="201168" cy="201168"/>
          </a:xfrm>
          <a:prstGeom prst="rect">
            <a:avLst/>
          </a:prstGeom>
        </p:spPr>
      </p:pic>
      <p:sp>
        <p:nvSpPr>
          <p:cNvPr id="5" name="Этап: Каркасные макеты"/>
          <p:cNvSpPr txBox="1"/>
          <p:nvPr/>
        </p:nvSpPr>
        <p:spPr>
          <a:xfrm>
            <a:off x="2157984" y="1143000"/>
            <a:ext cx="137160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rgbClr val="E2DED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Каркасные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макеты</a:t>
            </a:r>
            <a:endParaRPr lang="en-US" sz="1300" dirty="0"/>
          </a:p>
        </p:txBody>
      </p:sp>
      <p:pic>
        <p:nvPicPr>
          <p:cNvPr id="6" name="Стрелка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92" y="1444752"/>
            <a:ext cx="201168" cy="201168"/>
          </a:xfrm>
          <a:prstGeom prst="rect">
            <a:avLst/>
          </a:prstGeom>
        </p:spPr>
      </p:pic>
      <p:sp>
        <p:nvSpPr>
          <p:cNvPr id="7" name="Этап: Прототип в коде"/>
          <p:cNvSpPr txBox="1"/>
          <p:nvPr/>
        </p:nvSpPr>
        <p:spPr>
          <a:xfrm>
            <a:off x="3858768" y="1143000"/>
            <a:ext cx="1371600" cy="82296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9525">
            <a:solidFill>
              <a:srgbClr val="E2DED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Прототип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в коде</a:t>
            </a:r>
            <a:endParaRPr lang="en-US" sz="1300" dirty="0"/>
          </a:p>
        </p:txBody>
      </p:sp>
      <p:pic>
        <p:nvPicPr>
          <p:cNvPr id="8" name="Стрелка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4376" y="1444752"/>
            <a:ext cx="201168" cy="201168"/>
          </a:xfrm>
          <a:prstGeom prst="rect">
            <a:avLst/>
          </a:prstGeom>
        </p:spPr>
      </p:pic>
      <p:sp>
        <p:nvSpPr>
          <p:cNvPr id="9" name="Этап: Проверка"/>
          <p:cNvSpPr txBox="1"/>
          <p:nvPr/>
        </p:nvSpPr>
        <p:spPr>
          <a:xfrm>
            <a:off x="5559552" y="1143000"/>
            <a:ext cx="137160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rgbClr val="E2DED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Проверка</a:t>
            </a:r>
            <a:endParaRPr lang="en-US" sz="1300" dirty="0"/>
          </a:p>
        </p:txBody>
      </p:sp>
      <p:pic>
        <p:nvPicPr>
          <p:cNvPr id="10" name="Стрелка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1444752"/>
            <a:ext cx="201168" cy="201168"/>
          </a:xfrm>
          <a:prstGeom prst="rect">
            <a:avLst/>
          </a:prstGeom>
        </p:spPr>
      </p:pic>
      <p:sp>
        <p:nvSpPr>
          <p:cNvPr id="11" name="Этап: Исправления"/>
          <p:cNvSpPr txBox="1"/>
          <p:nvPr/>
        </p:nvSpPr>
        <p:spPr>
          <a:xfrm>
            <a:off x="7260336" y="1143000"/>
            <a:ext cx="137160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rgbClr val="E2DED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Исправления</a:t>
            </a:r>
            <a:endParaRPr lang="en-US" sz="1300" dirty="0"/>
          </a:p>
        </p:txBody>
      </p:sp>
      <p:sp>
        <p:nvSpPr>
          <p:cNvPr id="12" name="Text 6"/>
          <p:cNvSpPr txBox="1"/>
          <p:nvPr/>
        </p:nvSpPr>
        <p:spPr>
          <a:xfrm>
            <a:off x="457200" y="2057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↺ цикл повторялся после каждой обратной связи заказчика</a:t>
            </a:r>
            <a:endParaRPr lang="en-US" sz="1100" dirty="0"/>
          </a:p>
        </p:txBody>
      </p:sp>
      <p:sp>
        <p:nvSpPr>
          <p:cNvPr id="13" name="Роль: Клиент"/>
          <p:cNvSpPr/>
          <p:nvPr/>
        </p:nvSpPr>
        <p:spPr>
          <a:xfrm>
            <a:off x="457200" y="2514600"/>
            <a:ext cx="260604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9525">
            <a:solidFill>
              <a:srgbClr val="E2DED6"/>
            </a:solidFill>
            <a:prstDash val="solid"/>
          </a:ln>
          <a:effectLst>
            <a:outerShdw sx="100000" sy="100000" kx="0" ky="0" algn="bl" rotWithShape="0" blurRad="76200" dist="25400" dir="5400000">
              <a:srgbClr val="0D1B2A">
                <a:alpha val="8000"/>
              </a:srgbClr>
            </a:outerShdw>
          </a:effectLst>
        </p:spPr>
      </p:sp>
      <p:sp>
        <p:nvSpPr>
          <p:cNvPr id="14" name="Фон иконки роли Клиент"/>
          <p:cNvSpPr/>
          <p:nvPr/>
        </p:nvSpPr>
        <p:spPr>
          <a:xfrm>
            <a:off x="640080" y="2715768"/>
            <a:ext cx="502920" cy="5029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5" name="Иконка роли Клиент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" y="2839212"/>
            <a:ext cx="256032" cy="256032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280160" y="267004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Клиент</a:t>
            </a:r>
            <a:endParaRPr lang="en-US" sz="1400" dirty="0"/>
          </a:p>
        </p:txBody>
      </p:sp>
      <p:sp>
        <p:nvSpPr>
          <p:cNvPr id="17" name="Text 10"/>
          <p:cNvSpPr txBox="1"/>
          <p:nvPr/>
        </p:nvSpPr>
        <p:spPr>
          <a:xfrm>
            <a:off x="1280160" y="2962656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Подбор, сравнение, бронь, ипотека, кабинет</a:t>
            </a:r>
            <a:endParaRPr lang="en-US" sz="1100" dirty="0"/>
          </a:p>
        </p:txBody>
      </p:sp>
      <p:sp>
        <p:nvSpPr>
          <p:cNvPr id="18" name="Роль: Менеджер"/>
          <p:cNvSpPr/>
          <p:nvPr/>
        </p:nvSpPr>
        <p:spPr>
          <a:xfrm>
            <a:off x="3246120" y="2514600"/>
            <a:ext cx="260604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9525">
            <a:solidFill>
              <a:srgbClr val="E2DED6"/>
            </a:solidFill>
            <a:prstDash val="solid"/>
          </a:ln>
          <a:effectLst>
            <a:outerShdw sx="100000" sy="100000" kx="0" ky="0" algn="bl" rotWithShape="0" blurRad="76200" dist="25400" dir="5400000">
              <a:srgbClr val="0D1B2A">
                <a:alpha val="8000"/>
              </a:srgbClr>
            </a:outerShdw>
          </a:effectLst>
        </p:spPr>
      </p:sp>
      <p:sp>
        <p:nvSpPr>
          <p:cNvPr id="19" name="Фон иконки роли Менеджер"/>
          <p:cNvSpPr/>
          <p:nvPr/>
        </p:nvSpPr>
        <p:spPr>
          <a:xfrm>
            <a:off x="3429000" y="2715768"/>
            <a:ext cx="502920" cy="5029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0" name="Иконка роли Менеджер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2444" y="2839212"/>
            <a:ext cx="256032" cy="256032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4069080" y="267004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Менеджер</a:t>
            </a:r>
            <a:endParaRPr lang="en-US" sz="1400" dirty="0"/>
          </a:p>
        </p:txBody>
      </p:sp>
      <p:sp>
        <p:nvSpPr>
          <p:cNvPr id="22" name="Text 14"/>
          <p:cNvSpPr txBox="1"/>
          <p:nvPr/>
        </p:nvSpPr>
        <p:spPr>
          <a:xfrm>
            <a:off x="4069080" y="2962656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Брони, заявки на ипотеку, обращения, цены</a:t>
            </a:r>
            <a:endParaRPr lang="en-US" sz="1100" dirty="0"/>
          </a:p>
        </p:txBody>
      </p:sp>
      <p:sp>
        <p:nvSpPr>
          <p:cNvPr id="23" name="Роль: Администратор"/>
          <p:cNvSpPr/>
          <p:nvPr/>
        </p:nvSpPr>
        <p:spPr>
          <a:xfrm>
            <a:off x="6035040" y="2514600"/>
            <a:ext cx="260604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9525">
            <a:solidFill>
              <a:srgbClr val="E2DED6"/>
            </a:solidFill>
            <a:prstDash val="solid"/>
          </a:ln>
          <a:effectLst>
            <a:outerShdw sx="100000" sy="100000" kx="0" ky="0" algn="bl" rotWithShape="0" blurRad="76200" dist="25400" dir="5400000">
              <a:srgbClr val="0D1B2A">
                <a:alpha val="8000"/>
              </a:srgbClr>
            </a:outerShdw>
          </a:effectLst>
        </p:spPr>
      </p:sp>
      <p:sp>
        <p:nvSpPr>
          <p:cNvPr id="24" name="Фон иконки роли Администратор"/>
          <p:cNvSpPr/>
          <p:nvPr/>
        </p:nvSpPr>
        <p:spPr>
          <a:xfrm>
            <a:off x="6217920" y="2715768"/>
            <a:ext cx="502920" cy="5029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5" name="Иконка роли Администратор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1364" y="2839212"/>
            <a:ext cx="256032" cy="256032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6858000" y="267004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Администратор</a:t>
            </a:r>
            <a:endParaRPr lang="en-US" sz="1400" dirty="0"/>
          </a:p>
        </p:txBody>
      </p:sp>
      <p:sp>
        <p:nvSpPr>
          <p:cNvPr id="27" name="Text 18"/>
          <p:cNvSpPr txBox="1"/>
          <p:nvPr/>
        </p:nvSpPr>
        <p:spPr>
          <a:xfrm>
            <a:off x="6858000" y="2962656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Роли, блокировка, лояльность, программы</a:t>
            </a:r>
            <a:endParaRPr lang="en-US" sz="1100" dirty="0"/>
          </a:p>
        </p:txBody>
      </p:sp>
      <p:sp>
        <p:nvSpPr>
          <p:cNvPr id="28" name="Метка: React 19"/>
          <p:cNvSpPr txBox="1"/>
          <p:nvPr/>
        </p:nvSpPr>
        <p:spPr>
          <a:xfrm>
            <a:off x="457200" y="3840480"/>
            <a:ext cx="1097280" cy="2926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React 19</a:t>
            </a:r>
            <a:endParaRPr lang="en-US" sz="1100" dirty="0"/>
          </a:p>
        </p:txBody>
      </p:sp>
      <p:sp>
        <p:nvSpPr>
          <p:cNvPr id="29" name="Метка: Vite"/>
          <p:cNvSpPr txBox="1"/>
          <p:nvPr/>
        </p:nvSpPr>
        <p:spPr>
          <a:xfrm>
            <a:off x="1645920" y="3840480"/>
            <a:ext cx="1097280" cy="2926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Vite</a:t>
            </a:r>
            <a:endParaRPr lang="en-US" sz="1100" dirty="0"/>
          </a:p>
        </p:txBody>
      </p:sp>
      <p:sp>
        <p:nvSpPr>
          <p:cNvPr id="30" name="Метка: Django 5.2"/>
          <p:cNvSpPr txBox="1"/>
          <p:nvPr/>
        </p:nvSpPr>
        <p:spPr>
          <a:xfrm>
            <a:off x="2834640" y="3840480"/>
            <a:ext cx="1097280" cy="2926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Django 5.2</a:t>
            </a:r>
            <a:endParaRPr lang="en-US" sz="1100" dirty="0"/>
          </a:p>
        </p:txBody>
      </p:sp>
      <p:sp>
        <p:nvSpPr>
          <p:cNvPr id="31" name="Метка: DRF + JWT"/>
          <p:cNvSpPr txBox="1"/>
          <p:nvPr/>
        </p:nvSpPr>
        <p:spPr>
          <a:xfrm>
            <a:off x="4023360" y="3840480"/>
            <a:ext cx="1097280" cy="2926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DRF + JWT</a:t>
            </a:r>
            <a:endParaRPr lang="en-US" sz="1100" dirty="0"/>
          </a:p>
        </p:txBody>
      </p:sp>
      <p:sp>
        <p:nvSpPr>
          <p:cNvPr id="32" name="Метка: PostgreSQL 16"/>
          <p:cNvSpPr txBox="1"/>
          <p:nvPr/>
        </p:nvSpPr>
        <p:spPr>
          <a:xfrm>
            <a:off x="5212080" y="3840480"/>
            <a:ext cx="1097280" cy="2926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PostgreSQL 16</a:t>
            </a:r>
            <a:endParaRPr lang="en-US" sz="1100" dirty="0"/>
          </a:p>
        </p:txBody>
      </p:sp>
      <p:sp>
        <p:nvSpPr>
          <p:cNvPr id="33" name="Метка: Docker"/>
          <p:cNvSpPr txBox="1"/>
          <p:nvPr/>
        </p:nvSpPr>
        <p:spPr>
          <a:xfrm>
            <a:off x="6400800" y="3840480"/>
            <a:ext cx="1097280" cy="2926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Docker</a:t>
            </a:r>
            <a:endParaRPr lang="en-US" sz="1100" dirty="0"/>
          </a:p>
        </p:txBody>
      </p:sp>
      <p:sp>
        <p:nvSpPr>
          <p:cNvPr id="34" name="Метка: Playwright"/>
          <p:cNvSpPr txBox="1"/>
          <p:nvPr/>
        </p:nvSpPr>
        <p:spPr>
          <a:xfrm>
            <a:off x="7589520" y="3840480"/>
            <a:ext cx="1097280" cy="2926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Playwright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Каркасные макеты: иерархия до цвета</a:t>
            </a:r>
            <a:endParaRPr lang="en-US" sz="2600" dirty="0"/>
          </a:p>
        </p:txBody>
      </p:sp>
      <p:sp>
        <p:nvSpPr>
          <p:cNvPr id="3" name="Каркас главной страницы рамка"/>
          <p:cNvSpPr/>
          <p:nvPr/>
        </p:nvSpPr>
        <p:spPr>
          <a:xfrm>
            <a:off x="512064" y="1060704"/>
            <a:ext cx="2587752" cy="3200400"/>
          </a:xfrm>
          <a:prstGeom prst="roundRect">
            <a:avLst>
              <a:gd name="adj" fmla="val 2827"/>
            </a:avLst>
          </a:prstGeom>
          <a:solidFill>
            <a:schemeClr val="bg1"/>
          </a:solidFill>
          <a:ln w="9525">
            <a:solidFill>
              <a:srgbClr val="E2DED6"/>
            </a:solidFill>
            <a:prstDash val="solid"/>
          </a:ln>
          <a:effectLst>
            <a:outerShdw sx="100000" sy="100000" kx="0" ky="0" algn="bl" rotWithShape="0" blurRad="101600" dist="38100" dir="5400000">
              <a:srgbClr val="0D1B2A">
                <a:alpha val="12000"/>
              </a:srgbClr>
            </a:outerShdw>
          </a:effectLst>
        </p:spPr>
      </p:sp>
      <p:pic>
        <p:nvPicPr>
          <p:cNvPr id="4" name="Каркас главной страницы" descr="Каркас главной страницы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2514600" cy="3127248"/>
          </a:xfrm>
          <a:prstGeom prst="rect">
            <a:avLst/>
          </a:prstGeom>
        </p:spPr>
      </p:pic>
      <p:sp>
        <p:nvSpPr>
          <p:cNvPr id="5" name="Каркас карточки квартиры рамка"/>
          <p:cNvSpPr/>
          <p:nvPr/>
        </p:nvSpPr>
        <p:spPr>
          <a:xfrm>
            <a:off x="3392424" y="1060704"/>
            <a:ext cx="3410712" cy="3099816"/>
          </a:xfrm>
          <a:prstGeom prst="roundRect">
            <a:avLst>
              <a:gd name="adj" fmla="val 2360"/>
            </a:avLst>
          </a:prstGeom>
          <a:solidFill>
            <a:schemeClr val="bg1"/>
          </a:solidFill>
          <a:ln w="9525">
            <a:solidFill>
              <a:srgbClr val="E2DED6"/>
            </a:solidFill>
            <a:prstDash val="solid"/>
          </a:ln>
          <a:effectLst>
            <a:outerShdw sx="100000" sy="100000" kx="0" ky="0" algn="bl" rotWithShape="0" blurRad="101600" dist="38100" dir="5400000">
              <a:srgbClr val="0D1B2A">
                <a:alpha val="12000"/>
              </a:srgbClr>
            </a:outerShdw>
          </a:effectLst>
        </p:spPr>
      </p:sp>
      <p:pic>
        <p:nvPicPr>
          <p:cNvPr id="6" name="Каркас карточки квартиры" descr="Каркас карточки квартиры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097280"/>
            <a:ext cx="3337560" cy="302666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42976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Главная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3429000" y="414223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Карточка квартиры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7178040" y="1143000"/>
            <a:ext cx="1600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Главная — «перевёрнутая пирамида»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</a:rPr>
              <a:t>оффер, доверие и быстрый подбор в первом экране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Карточка — две колонки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</a:rPr>
              <a:t>цена и «Забронировать» закреплены справа и всегда на виду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Дизайн-система: единый визуальный язык</a:t>
            </a:r>
            <a:endParaRPr lang="en-US" sz="2600" dirty="0"/>
          </a:p>
        </p:txBody>
      </p:sp>
      <p:sp>
        <p:nvSpPr>
          <p:cNvPr id="3" name="Дизайн-система рамка"/>
          <p:cNvSpPr/>
          <p:nvPr/>
        </p:nvSpPr>
        <p:spPr>
          <a:xfrm>
            <a:off x="512064" y="1060704"/>
            <a:ext cx="5193792" cy="3602736"/>
          </a:xfrm>
          <a:prstGeom prst="roundRect">
            <a:avLst>
              <a:gd name="adj" fmla="val 2030"/>
            </a:avLst>
          </a:prstGeom>
          <a:solidFill>
            <a:schemeClr val="bg1"/>
          </a:solidFill>
          <a:ln w="9525">
            <a:solidFill>
              <a:srgbClr val="E2DED6"/>
            </a:solidFill>
            <a:prstDash val="solid"/>
          </a:ln>
          <a:effectLst>
            <a:outerShdw sx="100000" sy="100000" kx="0" ky="0" algn="bl" rotWithShape="0" blurRad="101600" dist="38100" dir="5400000">
              <a:srgbClr val="0D1B2A">
                <a:alpha val="12000"/>
              </a:srgbClr>
            </a:outerShdw>
          </a:effectLst>
        </p:spPr>
      </p:sp>
      <p:pic>
        <p:nvPicPr>
          <p:cNvPr id="4" name="Дизайн-система" descr="Дизайн-систем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5120640" cy="352958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035040" y="1097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15,8 : 1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035040" y="1645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контраст основного текста (норма WCAG — 4,5 : 1)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035040" y="2286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8 px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6035040" y="28346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шаг сетки отступов; радиусы 10–32 px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035040" y="3474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 акцент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035040" y="40233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оранжевый — только для целевых действий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Интерфейс: главная страница и каталог</a:t>
            </a:r>
            <a:endParaRPr lang="en-US" sz="2600" dirty="0"/>
          </a:p>
        </p:txBody>
      </p:sp>
      <p:sp>
        <p:nvSpPr>
          <p:cNvPr id="3" name="Главная страница рамка"/>
          <p:cNvSpPr/>
          <p:nvPr/>
        </p:nvSpPr>
        <p:spPr>
          <a:xfrm>
            <a:off x="512064" y="1106424"/>
            <a:ext cx="3959352" cy="2505456"/>
          </a:xfrm>
          <a:prstGeom prst="roundRect">
            <a:avLst>
              <a:gd name="adj" fmla="val 2920"/>
            </a:avLst>
          </a:prstGeom>
          <a:solidFill>
            <a:schemeClr val="bg1"/>
          </a:solidFill>
          <a:ln w="9525">
            <a:solidFill>
              <a:srgbClr val="E2DED6"/>
            </a:solidFill>
            <a:prstDash val="solid"/>
          </a:ln>
          <a:effectLst>
            <a:outerShdw sx="100000" sy="100000" kx="0" ky="0" algn="bl" rotWithShape="0" blurRad="101600" dist="38100" dir="5400000">
              <a:srgbClr val="0D1B2A">
                <a:alpha val="12000"/>
              </a:srgbClr>
            </a:outerShdw>
          </a:effectLst>
        </p:spPr>
      </p:sp>
      <p:pic>
        <p:nvPicPr>
          <p:cNvPr id="4" name="Главная страница" descr="Главная страниц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43000"/>
            <a:ext cx="3886200" cy="2432304"/>
          </a:xfrm>
          <a:prstGeom prst="rect">
            <a:avLst/>
          </a:prstGeom>
        </p:spPr>
      </p:pic>
      <p:sp>
        <p:nvSpPr>
          <p:cNvPr id="5" name="Каталог квартир рамка"/>
          <p:cNvSpPr/>
          <p:nvPr/>
        </p:nvSpPr>
        <p:spPr>
          <a:xfrm>
            <a:off x="4672584" y="1106424"/>
            <a:ext cx="3959352" cy="2505456"/>
          </a:xfrm>
          <a:prstGeom prst="roundRect">
            <a:avLst>
              <a:gd name="adj" fmla="val 2920"/>
            </a:avLst>
          </a:prstGeom>
          <a:solidFill>
            <a:schemeClr val="bg1"/>
          </a:solidFill>
          <a:ln w="9525">
            <a:solidFill>
              <a:srgbClr val="E2DED6"/>
            </a:solidFill>
            <a:prstDash val="solid"/>
          </a:ln>
          <a:effectLst>
            <a:outerShdw sx="100000" sy="100000" kx="0" ky="0" algn="bl" rotWithShape="0" blurRad="101600" dist="38100" dir="5400000">
              <a:srgbClr val="0D1B2A">
                <a:alpha val="12000"/>
              </a:srgbClr>
            </a:outerShdw>
          </a:effectLst>
        </p:spPr>
      </p:sp>
      <p:pic>
        <p:nvPicPr>
          <p:cNvPr id="6" name="Каталог квартир" descr="Каталог квартир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143000"/>
            <a:ext cx="3886200" cy="2432304"/>
          </a:xfrm>
          <a:prstGeom prst="rect">
            <a:avLst/>
          </a:prstGeom>
        </p:spPr>
      </p:pic>
      <p:sp>
        <p:nvSpPr>
          <p:cNvPr id="7" name="Метка: Закон Хика: 5 вариантов в быстром подборе"/>
          <p:cNvSpPr txBox="1"/>
          <p:nvPr/>
        </p:nvSpPr>
        <p:spPr>
          <a:xfrm>
            <a:off x="548640" y="3794760"/>
            <a:ext cx="388620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Закон Хика: 5 вариантов в быстром подборе</a:t>
            </a:r>
            <a:endParaRPr lang="en-US" sz="1100" dirty="0"/>
          </a:p>
        </p:txBody>
      </p:sp>
      <p:sp>
        <p:nvSpPr>
          <p:cNvPr id="8" name="Метка: Закон Фиттса: кнопки 48–56 px, чипы 40 px"/>
          <p:cNvSpPr txBox="1"/>
          <p:nvPr/>
        </p:nvSpPr>
        <p:spPr>
          <a:xfrm>
            <a:off x="548640" y="4206240"/>
            <a:ext cx="3886200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Закон Фиттса: кнопки 48–56 px, чипы 40 px</a:t>
            </a:r>
            <a:endParaRPr lang="en-US" sz="1100" dirty="0"/>
          </a:p>
        </p:txBody>
      </p:sp>
      <p:sp>
        <p:nvSpPr>
          <p:cNvPr id="9" name="Метка: Фото + мини-планировка в карточке"/>
          <p:cNvSpPr txBox="1"/>
          <p:nvPr/>
        </p:nvSpPr>
        <p:spPr>
          <a:xfrm>
            <a:off x="4709160" y="3794760"/>
            <a:ext cx="388620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Фото + мини-планировка в карточке</a:t>
            </a:r>
            <a:endParaRPr lang="en-US" sz="1100" dirty="0"/>
          </a:p>
        </p:txBody>
      </p:sp>
      <p:sp>
        <p:nvSpPr>
          <p:cNvPr id="10" name="Метка: Фильтры в адресе: подборкой можно поделиться"/>
          <p:cNvSpPr txBox="1"/>
          <p:nvPr/>
        </p:nvSpPr>
        <p:spPr>
          <a:xfrm>
            <a:off x="4709160" y="4206240"/>
            <a:ext cx="3886200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Фильтры в адресе: подборкой можно поделиться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Карточка квартиры и вход с кодом из письма</a:t>
            </a:r>
            <a:endParaRPr lang="en-US" sz="2600" dirty="0"/>
          </a:p>
        </p:txBody>
      </p:sp>
      <p:sp>
        <p:nvSpPr>
          <p:cNvPr id="3" name="Карточка квартиры рамка"/>
          <p:cNvSpPr/>
          <p:nvPr/>
        </p:nvSpPr>
        <p:spPr>
          <a:xfrm>
            <a:off x="512064" y="1106424"/>
            <a:ext cx="3959352" cy="2505456"/>
          </a:xfrm>
          <a:prstGeom prst="roundRect">
            <a:avLst>
              <a:gd name="adj" fmla="val 2920"/>
            </a:avLst>
          </a:prstGeom>
          <a:solidFill>
            <a:schemeClr val="bg1"/>
          </a:solidFill>
          <a:ln w="9525">
            <a:solidFill>
              <a:srgbClr val="E2DED6"/>
            </a:solidFill>
            <a:prstDash val="solid"/>
          </a:ln>
          <a:effectLst>
            <a:outerShdw sx="100000" sy="100000" kx="0" ky="0" algn="bl" rotWithShape="0" blurRad="101600" dist="38100" dir="5400000">
              <a:srgbClr val="0D1B2A">
                <a:alpha val="12000"/>
              </a:srgbClr>
            </a:outerShdw>
          </a:effectLst>
        </p:spPr>
      </p:sp>
      <p:pic>
        <p:nvPicPr>
          <p:cNvPr id="4" name="Карточка квартиры" descr="Карточка квартиры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43000"/>
            <a:ext cx="3886200" cy="2432304"/>
          </a:xfrm>
          <a:prstGeom prst="rect">
            <a:avLst/>
          </a:prstGeom>
        </p:spPr>
      </p:pic>
      <p:sp>
        <p:nvSpPr>
          <p:cNvPr id="5" name="Ввод кода двухфакторной аутентификации рамка"/>
          <p:cNvSpPr/>
          <p:nvPr/>
        </p:nvSpPr>
        <p:spPr>
          <a:xfrm>
            <a:off x="4672584" y="1106424"/>
            <a:ext cx="3959352" cy="2505456"/>
          </a:xfrm>
          <a:prstGeom prst="roundRect">
            <a:avLst>
              <a:gd name="adj" fmla="val 2920"/>
            </a:avLst>
          </a:prstGeom>
          <a:solidFill>
            <a:schemeClr val="bg1"/>
          </a:solidFill>
          <a:ln w="9525">
            <a:solidFill>
              <a:srgbClr val="E2DED6"/>
            </a:solidFill>
            <a:prstDash val="solid"/>
          </a:ln>
          <a:effectLst>
            <a:outerShdw sx="100000" sy="100000" kx="0" ky="0" algn="bl" rotWithShape="0" blurRad="101600" dist="38100" dir="5400000">
              <a:srgbClr val="0D1B2A">
                <a:alpha val="12000"/>
              </a:srgbClr>
            </a:outerShdw>
          </a:effectLst>
        </p:spPr>
      </p:sp>
      <p:pic>
        <p:nvPicPr>
          <p:cNvPr id="6" name="Ввод кода двухфакторной аутентификации" descr="Ввод кода двухфакторной аутентификации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143000"/>
            <a:ext cx="3886200" cy="243230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374904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Вкладки «Фото / Планировка / На этаже», панель цены с бронью и мини-калькулятором ипотеки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4709160" y="374904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6 полей с автопереходом и вставкой, маска email, срок действия и таймер повторной отправки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Кабинет, менеджер и мобильная версия</a:t>
            </a:r>
            <a:endParaRPr lang="en-US" sz="2600" dirty="0"/>
          </a:p>
        </p:txBody>
      </p:sp>
      <p:sp>
        <p:nvSpPr>
          <p:cNvPr id="3" name="Личный кабинет клиента рамка"/>
          <p:cNvSpPr/>
          <p:nvPr/>
        </p:nvSpPr>
        <p:spPr>
          <a:xfrm>
            <a:off x="512064" y="1152144"/>
            <a:ext cx="2724912" cy="1728216"/>
          </a:xfrm>
          <a:prstGeom prst="roundRect">
            <a:avLst>
              <a:gd name="adj" fmla="val 4233"/>
            </a:avLst>
          </a:prstGeom>
          <a:solidFill>
            <a:schemeClr val="bg1"/>
          </a:solidFill>
          <a:ln w="9525">
            <a:solidFill>
              <a:srgbClr val="E2DED6"/>
            </a:solidFill>
            <a:prstDash val="solid"/>
          </a:ln>
          <a:effectLst>
            <a:outerShdw sx="100000" sy="100000" kx="0" ky="0" algn="bl" rotWithShape="0" blurRad="101600" dist="38100" dir="5400000">
              <a:srgbClr val="0D1B2A">
                <a:alpha val="12000"/>
              </a:srgbClr>
            </a:outerShdw>
          </a:effectLst>
        </p:spPr>
      </p:sp>
      <p:pic>
        <p:nvPicPr>
          <p:cNvPr id="4" name="Личный кабинет клиента" descr="Личный кабинет клиент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2651760" cy="1655064"/>
          </a:xfrm>
          <a:prstGeom prst="rect">
            <a:avLst/>
          </a:prstGeom>
        </p:spPr>
      </p:pic>
      <p:sp>
        <p:nvSpPr>
          <p:cNvPr id="5" name="Панель менеджера рамка"/>
          <p:cNvSpPr/>
          <p:nvPr/>
        </p:nvSpPr>
        <p:spPr>
          <a:xfrm>
            <a:off x="3392424" y="1152144"/>
            <a:ext cx="2724912" cy="1728216"/>
          </a:xfrm>
          <a:prstGeom prst="roundRect">
            <a:avLst>
              <a:gd name="adj" fmla="val 4233"/>
            </a:avLst>
          </a:prstGeom>
          <a:solidFill>
            <a:schemeClr val="bg1"/>
          </a:solidFill>
          <a:ln w="9525">
            <a:solidFill>
              <a:srgbClr val="E2DED6"/>
            </a:solidFill>
            <a:prstDash val="solid"/>
          </a:ln>
          <a:effectLst>
            <a:outerShdw sx="100000" sy="100000" kx="0" ky="0" algn="bl" rotWithShape="0" blurRad="101600" dist="38100" dir="5400000">
              <a:srgbClr val="0D1B2A">
                <a:alpha val="12000"/>
              </a:srgbClr>
            </a:outerShdw>
          </a:effectLst>
        </p:spPr>
      </p:sp>
      <p:pic>
        <p:nvPicPr>
          <p:cNvPr id="6" name="Панель менеджера" descr="Панель менеджер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188720"/>
            <a:ext cx="2651760" cy="1655064"/>
          </a:xfrm>
          <a:prstGeom prst="rect">
            <a:avLst/>
          </a:prstGeom>
        </p:spPr>
      </p:pic>
      <p:sp>
        <p:nvSpPr>
          <p:cNvPr id="7" name="Мобильная версия рамка"/>
          <p:cNvSpPr/>
          <p:nvPr/>
        </p:nvSpPr>
        <p:spPr>
          <a:xfrm>
            <a:off x="6272784" y="1152144"/>
            <a:ext cx="2359152" cy="1709928"/>
          </a:xfrm>
          <a:prstGeom prst="roundRect">
            <a:avLst>
              <a:gd name="adj" fmla="val 4278"/>
            </a:avLst>
          </a:prstGeom>
          <a:solidFill>
            <a:schemeClr val="bg1"/>
          </a:solidFill>
          <a:ln w="9525">
            <a:solidFill>
              <a:srgbClr val="E2DED6"/>
            </a:solidFill>
            <a:prstDash val="solid"/>
          </a:ln>
          <a:effectLst>
            <a:outerShdw sx="100000" sy="100000" kx="0" ky="0" algn="bl" rotWithShape="0" blurRad="101600" dist="38100" dir="5400000">
              <a:srgbClr val="0D1B2A">
                <a:alpha val="12000"/>
              </a:srgbClr>
            </a:outerShdw>
          </a:effectLst>
        </p:spPr>
      </p:sp>
      <p:pic>
        <p:nvPicPr>
          <p:cNvPr id="8" name="Мобильная версия" descr="Мобильная версия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188720"/>
            <a:ext cx="2286000" cy="163677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48640" y="2926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Кабинет: уровень лояльности и статусы броней</a:t>
            </a:r>
            <a:endParaRPr lang="en-US" sz="1100" dirty="0"/>
          </a:p>
        </p:txBody>
      </p:sp>
      <p:sp>
        <p:nvSpPr>
          <p:cNvPr id="10" name="Text 5"/>
          <p:cNvSpPr txBox="1"/>
          <p:nvPr/>
        </p:nvSpPr>
        <p:spPr>
          <a:xfrm>
            <a:off x="3429000" y="2926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Менеджер: сводка, брони, заявки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6309360" y="2926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Мобильная: одна колонка, 390 px</a:t>
            </a:r>
            <a:endParaRPr lang="en-US" sz="11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3520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20+</a:t>
            </a:r>
            <a:endParaRPr lang="en-US" sz="3000" dirty="0"/>
          </a:p>
        </p:txBody>
      </p:sp>
      <p:sp>
        <p:nvSpPr>
          <p:cNvPr id="13" name="Text 8"/>
          <p:cNvSpPr txBox="1"/>
          <p:nvPr/>
        </p:nvSpPr>
        <p:spPr>
          <a:xfrm>
            <a:off x="548640" y="4069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экранов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2606040" y="3520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5" name="Text 10"/>
          <p:cNvSpPr txBox="1"/>
          <p:nvPr/>
        </p:nvSpPr>
        <p:spPr>
          <a:xfrm>
            <a:off x="2606040" y="4069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роли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4663440" y="3520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4</a:t>
            </a:r>
            <a:endParaRPr lang="en-US" sz="3000" dirty="0"/>
          </a:p>
        </p:txBody>
      </p:sp>
      <p:sp>
        <p:nvSpPr>
          <p:cNvPr id="17" name="Text 12"/>
          <p:cNvSpPr txBox="1"/>
          <p:nvPr/>
        </p:nvSpPr>
        <p:spPr>
          <a:xfrm>
            <a:off x="4663440" y="4069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ширины экрана проверены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6720840" y="3520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18</a:t>
            </a:r>
            <a:endParaRPr lang="en-US" sz="3000" dirty="0"/>
          </a:p>
        </p:txBody>
      </p:sp>
      <p:sp>
        <p:nvSpPr>
          <p:cNvPr id="19" name="Text 14"/>
          <p:cNvSpPr txBox="1"/>
          <p:nvPr/>
        </p:nvSpPr>
        <p:spPr>
          <a:xfrm>
            <a:off x="6720840" y="4069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тестов API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Сравнение инструментов проектирования</a:t>
            </a:r>
            <a:endParaRPr lang="en-US" sz="2600" dirty="0"/>
          </a:p>
        </p:txBody>
      </p:sp>
      <p:graphicFrame>
        <p:nvGraphicFramePr>
          <p:cNvPr id="3" name="Диаграмма оценок инструментов" descr=""/>
          <p:cNvGraphicFramePr/>
          <p:nvPr/>
        </p:nvGraphicFramePr>
        <p:xfrm>
          <a:off x="457200" y="1051560"/>
          <a:ext cx="493776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Вывод по инструментам"/>
          <p:cNvSpPr/>
          <p:nvPr/>
        </p:nvSpPr>
        <p:spPr>
          <a:xfrm>
            <a:off x="5669280" y="1097280"/>
            <a:ext cx="3017520" cy="347472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9525">
            <a:solidFill>
              <a:srgbClr val="E2DED6"/>
            </a:solidFill>
            <a:prstDash val="solid"/>
          </a:ln>
          <a:effectLst>
            <a:outerShdw sx="100000" sy="100000" kx="0" ky="0" algn="bl" rotWithShape="0" blurRad="76200" dist="25400" dir="5400000">
              <a:srgbClr val="0D1B2A">
                <a:alpha val="8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5897880" y="1280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КРИТЕРИИ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897880" y="1572768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функциональность прототипа, доступность в РФ, связь с разработкой, скорость, совместная работа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897880" y="2514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ВЫВОД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897880" y="2807208"/>
            <a:ext cx="2606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Для этого проекта — каркасы и компоненты в коде. Для командной работы в РФ — Penpot или Pixso: у Figma нет оплаты из России и бывают сбои доступа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Тестирование: найдено и исправлено</a:t>
            </a:r>
            <a:endParaRPr lang="en-US" sz="2600" dirty="0"/>
          </a:p>
        </p:txBody>
      </p:sp>
      <p:graphicFrame>
        <p:nvGraphicFramePr>
          <p:cNvPr id="12" name="Таблица исправлений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539496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1188720"/>
                <a:gridCol w="2057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Проблема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Источник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Исправление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Меню переносилось на две строки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Заказчик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Поэтапное сжатие шапки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Иллюстрации вместо реальных фото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Заказчик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Фото ЖК и интерьеров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Фото не грузились без VPN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Заказчик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Фото в составе проекта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Поля кода 2FA выходили за экран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Скриншот-тест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Исправлена сетка полей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Калькулятор показывал «—»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Скриншот-тест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Автовыбор программы, текст ошибки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Подсказка «от от» в фильтре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Сквозной тест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Исправлен текст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Юзабилити-тест"/>
          <p:cNvSpPr/>
          <p:nvPr/>
        </p:nvSpPr>
        <p:spPr>
          <a:xfrm>
            <a:off x="6126480" y="1097280"/>
            <a:ext cx="2560320" cy="347472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9525">
            <a:solidFill>
              <a:srgbClr val="E2DED6"/>
            </a:solidFill>
            <a:prstDash val="solid"/>
          </a:ln>
          <a:effectLst>
            <a:outerShdw sx="100000" sy="100000" kx="0" ky="0" algn="bl" rotWithShape="0" blurRad="76200" dist="25400" dir="5400000">
              <a:srgbClr val="0D1B2A">
                <a:alpha val="8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355080" y="1280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ЮЗАБИЛИТИ-ТЕСТ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355080" y="16002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5 участников, 6 задач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</a:rPr>
              <a:t>метод «думай вслух», SEQ после задачи, SUS в конце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355080" y="26517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[__]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355080" y="3337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средний балл SUS (выше 68 — выше среднего)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355080" y="3931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[__ %] задач выполнено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ВЫВОДЫ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Удобство интерфейса достигается итеративно</a:t>
            </a:r>
            <a:endParaRPr lang="en-US" sz="2800" dirty="0"/>
          </a:p>
        </p:txBody>
      </p:sp>
      <p:sp>
        <p:nvSpPr>
          <p:cNvPr id="4" name="Итог: Спроектирован"/>
          <p:cNvSpPr/>
          <p:nvPr/>
        </p:nvSpPr>
        <p:spPr>
          <a:xfrm>
            <a:off x="548640" y="1737360"/>
            <a:ext cx="3840480" cy="1005840"/>
          </a:xfrm>
          <a:prstGeom prst="roundRect">
            <a:avLst>
              <a:gd name="adj" fmla="val 10909"/>
            </a:avLst>
          </a:prstGeom>
          <a:solidFill>
            <a:srgbClr val="1B2D44"/>
          </a:solidFill>
          <a:ln/>
        </p:spPr>
      </p:sp>
      <p:pic>
        <p:nvPicPr>
          <p:cNvPr id="5" name="Галочка Спроектирован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84248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9019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Спроектирован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221284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1DC"/>
                </a:solidFill>
              </a:rPr>
              <a:t>интерфейс по эвристикам и стандартам: каркасы, дизайн-система, 20+ экранов</a:t>
            </a:r>
            <a:endParaRPr lang="en-US" sz="1100" dirty="0"/>
          </a:p>
        </p:txBody>
      </p:sp>
      <p:sp>
        <p:nvSpPr>
          <p:cNvPr id="8" name="Итог: Реализован"/>
          <p:cNvSpPr/>
          <p:nvPr/>
        </p:nvSpPr>
        <p:spPr>
          <a:xfrm>
            <a:off x="4617720" y="1737360"/>
            <a:ext cx="3840480" cy="1005840"/>
          </a:xfrm>
          <a:prstGeom prst="roundRect">
            <a:avLst>
              <a:gd name="adj" fmla="val 10909"/>
            </a:avLst>
          </a:prstGeom>
          <a:solidFill>
            <a:srgbClr val="1B2D44"/>
          </a:solidFill>
          <a:ln/>
        </p:spPr>
      </p:sp>
      <p:pic>
        <p:nvPicPr>
          <p:cNvPr id="9" name="Галочка Реализован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984248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257800" y="19019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Реализован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5257800" y="221284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1DC"/>
                </a:solidFill>
              </a:rPr>
              <a:t>работающий сайт: каталог, бронь, ипотека, лояльность, 2FA, 3 роли</a:t>
            </a:r>
            <a:endParaRPr lang="en-US" sz="1100" dirty="0"/>
          </a:p>
        </p:txBody>
      </p:sp>
      <p:sp>
        <p:nvSpPr>
          <p:cNvPr id="12" name="Итог: Сравнены"/>
          <p:cNvSpPr/>
          <p:nvPr/>
        </p:nvSpPr>
        <p:spPr>
          <a:xfrm>
            <a:off x="548640" y="2926080"/>
            <a:ext cx="3840480" cy="1005840"/>
          </a:xfrm>
          <a:prstGeom prst="roundRect">
            <a:avLst>
              <a:gd name="adj" fmla="val 10909"/>
            </a:avLst>
          </a:prstGeom>
          <a:solidFill>
            <a:srgbClr val="1B2D44"/>
          </a:solidFill>
          <a:ln/>
        </p:spPr>
      </p:sp>
      <p:pic>
        <p:nvPicPr>
          <p:cNvPr id="13" name="Галочка Сравнены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172968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88720" y="30906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Сравнены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188720" y="340156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1DC"/>
                </a:solidFill>
              </a:rPr>
              <a:t>9 инструментов; для РФ рекомендованы Penpot и Pixso</a:t>
            </a:r>
            <a:endParaRPr lang="en-US" sz="1100" dirty="0"/>
          </a:p>
        </p:txBody>
      </p:sp>
      <p:sp>
        <p:nvSpPr>
          <p:cNvPr id="16" name="Итог: Проверен"/>
          <p:cNvSpPr/>
          <p:nvPr/>
        </p:nvSpPr>
        <p:spPr>
          <a:xfrm>
            <a:off x="4617720" y="2926080"/>
            <a:ext cx="3840480" cy="1005840"/>
          </a:xfrm>
          <a:prstGeom prst="roundRect">
            <a:avLst>
              <a:gd name="adj" fmla="val 10909"/>
            </a:avLst>
          </a:prstGeom>
          <a:solidFill>
            <a:srgbClr val="1B2D44"/>
          </a:solidFill>
          <a:ln/>
        </p:spPr>
      </p:sp>
      <p:pic>
        <p:nvPicPr>
          <p:cNvPr id="17" name="Галочка Проверен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172968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257800" y="30906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Проверен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5257800" y="340156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1DC"/>
                </a:solidFill>
              </a:rPr>
              <a:t>6 проблем найдено и устранено, проведён юзабилити-тест</a:t>
            </a:r>
            <a:endParaRPr lang="en-US" sz="1100" dirty="0"/>
          </a:p>
        </p:txBody>
      </p:sp>
      <p:sp>
        <p:nvSpPr>
          <p:cNvPr id="20" name="Text 14"/>
          <p:cNvSpPr txBox="1"/>
          <p:nvPr/>
        </p:nvSpPr>
        <p:spPr>
          <a:xfrm>
            <a:off x="548640" y="43434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Спасибо за внимание!</a:t>
            </a:r>
            <a:endParaRPr lang="en-US" sz="1800" dirty="0"/>
          </a:p>
        </p:txBody>
      </p:sp>
      <p:sp>
        <p:nvSpPr>
          <p:cNvPr id="22" name="Text 0"/>
          <p:cNvSpPr/>
          <p:nvPr>
            <p:ph idx="100" type="title" hasCustomPrompt="1"/>
          </p:nvPr>
        </p:nvSpPr>
        <p:spPr>
          <a:xfrm>
            <a:off x="548640" y="109728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3" name="Text 0"/>
          <p:cNvSpPr/>
          <p:nvPr>
            <p:ph idx="101" type="body" hasCustomPrompt="1"/>
          </p:nvPr>
        </p:nvSpPr>
        <p:spPr>
          <a:xfrm>
            <a:off x="548640" y="25146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Новый Горизонт">
  <a:themeElements>
    <a:clrScheme name="Новый Горизонт">
      <a:dk1>
        <a:srgbClr val="0D1B2A"/>
      </a:dk1>
      <a:lt1>
        <a:srgbClr val="FFFFFF"/>
      </a:lt1>
      <a:dk2>
        <a:srgbClr val="1B2D44"/>
      </a:dk2>
      <a:lt2>
        <a:srgbClr val="F6F4F0"/>
      </a:lt2>
      <a:accent1>
        <a:srgbClr val="F25C2B"/>
      </a:accent1>
      <a:accent2>
        <a:srgbClr val="2A78D6"/>
      </a:accent2>
      <a:accent3>
        <a:srgbClr val="1BAF7A"/>
      </a:accent3>
      <a:accent4>
        <a:srgbClr val="5B6577"/>
      </a:accent4>
      <a:accent5>
        <a:srgbClr val="D94A1C"/>
      </a:accent5>
      <a:accent6>
        <a:srgbClr val="B45309"/>
      </a:accent6>
      <a:hlink>
        <a:srgbClr val="2A78D6"/>
      </a:hlink>
      <a:folHlink>
        <a:srgbClr val="5B6577"/>
      </a:folHlink>
    </a:clrScheme>
    <a:fontScheme name="Новый Горизонт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Проектирование интерфейсов: веб-сайт застройщика «Новый Горизонт»</dc:title>
  <dc:subject>PptxGenJS Presentation</dc:subject>
  <dc:creator>[Фамилия И. О.]</dc:creator>
  <cp:lastModifiedBy>[Фамилия И. О.]</cp:lastModifiedBy>
  <cp:revision>1</cp:revision>
  <dcterms:created xsi:type="dcterms:W3CDTF">2026-10-07T12:08:52Z</dcterms:created>
  <dcterms:modified xsi:type="dcterms:W3CDTF">2026-10-07T12:08:52Z</dcterms:modified>
</cp:coreProperties>
</file>